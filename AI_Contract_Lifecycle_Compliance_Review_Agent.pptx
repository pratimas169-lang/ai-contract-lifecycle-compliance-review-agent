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1119" r:id="rId2"/>
    <p:sldId id="1165" r:id="rId3"/>
    <p:sldId id="1166" r:id="rId4"/>
    <p:sldId id="1169" r:id="rId5"/>
    <p:sldId id="1167" r:id="rId6"/>
    <p:sldId id="1170" r:id="rId7"/>
    <p:sldId id="1168" r:id="rId8"/>
    <p:sldId id="30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B22F"/>
    <a:srgbClr val="AEFCFC"/>
    <a:srgbClr val="E0C1FF"/>
    <a:srgbClr val="CC99FF"/>
    <a:srgbClr val="00589A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26" autoAdjust="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54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29682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3" r:id="rId11"/>
  </p:sldLayoutIdLst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096000" y="1971123"/>
            <a:ext cx="5860025" cy="3554819"/>
          </a:xfrm>
          <a:prstGeom prst="rect">
            <a:avLst/>
          </a:prstGeom>
          <a:noFill/>
        </p:spPr>
        <p:txBody>
          <a:bodyPr wrap="square" lIns="50800" tIns="38100" rIns="50800" bIns="38100" rtlCol="0" anchor="ctr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sz="3200" b="1"/>
              <a:t>AI CONTRACT LIFECYCLE &amp; COMPLIANCE REVIEW AGENT</a:t>
            </a:r>
          </a:p>
          <a:p>
            <a:pPr algn="ctr"/>
            <a:r>
              <a:rPr sz="1600" b="0"/>
              <a:t>Intelligent Contract Analysis &amp; Workflow Automation System</a:t>
            </a:r>
          </a:p>
          <a:p>
            <a:pPr algn="ctr"/>
            <a:endParaRPr sz="1600" b="0"/>
          </a:p>
          <a:p>
            <a:pPr algn="ctr"/>
            <a:endParaRPr lang="en-IN" sz="1400" b="0"/>
          </a:p>
          <a:p>
            <a:pPr algn="ctr"/>
            <a:endParaRPr lang="en-IN" sz="1400"/>
          </a:p>
          <a:p>
            <a:pPr algn="ctr"/>
            <a:endParaRPr lang="en-IN" sz="1400" b="0"/>
          </a:p>
          <a:p>
            <a:pPr algn="ctr"/>
            <a:endParaRPr lang="en-IN" sz="1400"/>
          </a:p>
          <a:p>
            <a:pPr algn="ctr"/>
            <a:endParaRPr lang="en-IN" sz="1400" b="0"/>
          </a:p>
          <a:p>
            <a:pPr algn="ctr"/>
            <a:r>
              <a:rPr sz="1400" b="0"/>
              <a:t>Name: Pratima Sharma</a:t>
            </a:r>
          </a:p>
          <a:p>
            <a:pPr algn="ctr"/>
            <a:r>
              <a:rPr sz="1400" b="0"/>
              <a:t>Date: 2</a:t>
            </a:r>
            <a:r>
              <a:rPr lang="en-IN" sz="1400" b="0"/>
              <a:t>5</a:t>
            </a:r>
            <a:r>
              <a:rPr sz="1400" b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DA984-D9DE-A424-07FB-41B685C3F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763" y="1173987"/>
            <a:ext cx="9797766" cy="4978065"/>
          </a:xfrm>
        </p:spPr>
        <p:txBody>
          <a:bodyPr wrap="square" lIns="50800" tIns="38100" rIns="50800" bIns="38100">
            <a:noAutofit/>
          </a:bodyPr>
          <a:lstStyle/>
          <a:p>
            <a:pPr marL="203195" indent="0">
              <a:buNone/>
            </a:pPr>
            <a:endParaRPr/>
          </a:p>
          <a:p>
            <a:pPr marL="203195" indent="0">
              <a:spcBef>
                <a:spcPts val="200"/>
              </a:spcBef>
              <a:spcAft>
                <a:spcPts val="100"/>
              </a:spcAft>
              <a:buNone/>
            </a:pPr>
            <a:r>
              <a:rPr lang="en-IN" sz="1600" b="1"/>
              <a:t>Key Business Challenges</a:t>
            </a:r>
            <a:endParaRPr sz="1600" b="1"/>
          </a:p>
          <a:p>
            <a:pPr>
              <a:spcAft>
                <a:spcPts val="100"/>
              </a:spcAft>
            </a:pPr>
            <a:r>
              <a:rPr sz="1500"/>
              <a:t>Organizations manage large volumes of contracts across procurement, sales, HR and vendor relationships.</a:t>
            </a:r>
          </a:p>
          <a:p>
            <a:pPr>
              <a:spcAft>
                <a:spcPts val="100"/>
              </a:spcAft>
            </a:pPr>
            <a:r>
              <a:rPr sz="1500"/>
              <a:t>Reviewers manually search contracts, policies, templates and supporting documents for relevant information.</a:t>
            </a:r>
          </a:p>
          <a:p>
            <a:pPr>
              <a:spcAft>
                <a:spcPts val="100"/>
              </a:spcAft>
            </a:pPr>
            <a:r>
              <a:rPr sz="1500"/>
              <a:t>Contract clauses must be checked against company policies, approved terms and compliance requirements.</a:t>
            </a:r>
          </a:p>
          <a:p>
            <a:pPr>
              <a:spcAft>
                <a:spcPts val="100"/>
              </a:spcAft>
            </a:pPr>
            <a:r>
              <a:rPr sz="1500"/>
              <a:t>Repeated clause review, obligation tracking and review documentation consume legal and business-team time.</a:t>
            </a:r>
          </a:p>
          <a:p>
            <a:pPr>
              <a:spcAft>
                <a:spcPts val="100"/>
              </a:spcAft>
            </a:pPr>
            <a:r>
              <a:rPr sz="1500"/>
              <a:t>Non-standard clauses, missing protections and high-risk terms require consistent escalation and documented review.</a:t>
            </a:r>
            <a:endParaRPr lang="en-IN" sz="1500"/>
          </a:p>
          <a:p>
            <a:pPr>
              <a:spcAft>
                <a:spcPts val="100"/>
              </a:spcAft>
            </a:pPr>
            <a:endParaRPr sz="1200"/>
          </a:p>
          <a:p>
            <a:pPr marL="203195" indent="0">
              <a:spcBef>
                <a:spcPts val="200"/>
              </a:spcBef>
              <a:spcAft>
                <a:spcPts val="100"/>
              </a:spcAft>
              <a:buNone/>
            </a:pPr>
            <a:r>
              <a:rPr lang="en-IN" sz="1700" b="1"/>
              <a:t>Business Impact</a:t>
            </a:r>
            <a:endParaRPr sz="1700" b="1"/>
          </a:p>
          <a:p>
            <a:pPr>
              <a:spcAft>
                <a:spcPts val="100"/>
              </a:spcAft>
            </a:pPr>
            <a:r>
              <a:rPr sz="1500"/>
              <a:t>Longer contract review and approval cycles.</a:t>
            </a:r>
          </a:p>
          <a:p>
            <a:pPr>
              <a:spcAft>
                <a:spcPts val="100"/>
              </a:spcAft>
            </a:pPr>
            <a:r>
              <a:rPr sz="1500"/>
              <a:t>High repetitive workload for legal, procurement and business teams.</a:t>
            </a:r>
          </a:p>
          <a:p>
            <a:pPr>
              <a:spcAft>
                <a:spcPts val="100"/>
              </a:spcAft>
            </a:pPr>
            <a:r>
              <a:rPr sz="1500"/>
              <a:t>Inconsistent contract summaries, review notes and handoffs.</a:t>
            </a:r>
          </a:p>
          <a:p>
            <a:pPr>
              <a:spcAft>
                <a:spcPts val="100"/>
              </a:spcAft>
            </a:pPr>
            <a:r>
              <a:rPr sz="1500"/>
              <a:t>Difficulty scaling review capacity as contract volumes increase.</a:t>
            </a:r>
          </a:p>
          <a:p>
            <a:pPr>
              <a:spcAft>
                <a:spcPts val="100"/>
              </a:spcAft>
            </a:pPr>
            <a:r>
              <a:rPr sz="1500"/>
              <a:t>Delayed escalation of contracts requiring specialist or legal review.</a:t>
            </a:r>
            <a:endParaRPr lang="en-IN" sz="1500"/>
          </a:p>
          <a:p>
            <a:pPr>
              <a:spcAft>
                <a:spcPts val="100"/>
              </a:spcAft>
            </a:pPr>
            <a:endParaRPr sz="1200"/>
          </a:p>
          <a:p>
            <a:pPr marL="203195" indent="0">
              <a:spcBef>
                <a:spcPts val="200"/>
              </a:spcBef>
              <a:spcAft>
                <a:spcPts val="100"/>
              </a:spcAft>
              <a:buNone/>
            </a:pPr>
            <a:r>
              <a:rPr lang="en-IN" sz="1700" b="1"/>
              <a:t>Why an Intelligent Approach Is Needed</a:t>
            </a:r>
            <a:endParaRPr sz="1700" b="1"/>
          </a:p>
          <a:p>
            <a:pPr>
              <a:spcAft>
                <a:spcPts val="100"/>
              </a:spcAft>
            </a:pPr>
            <a:r>
              <a:rPr sz="1500"/>
              <a:t>Contract reviewers need a controlled system that can understand clauses, retrieve approved policies, identify potential risks and recommend next steps while keeping final legal and business decisions with authorized reviewers.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AF5D07-DB01-758D-7728-D416BBFAB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00" y="0"/>
            <a:ext cx="10675200" cy="1137600"/>
          </a:xfrm>
        </p:spPr>
        <p:txBody>
          <a:bodyPr wrap="square" lIns="50800" tIns="38100" rIns="50800" bIns="38100" anchor="ctr"/>
          <a:lstStyle/>
          <a:p>
            <a:pPr algn="ctr"/>
            <a:r>
              <a:rPr sz="2500" b="1"/>
              <a:t>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A8A4F-8662-F3C0-56EC-5FCF4CDC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91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C94D6-8516-DBE8-5590-03CDA9FFA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0EB937-9E9C-4440-5A4B-C2C37DC2C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400" y="1137600"/>
            <a:ext cx="10898978" cy="4978065"/>
          </a:xfrm>
        </p:spPr>
        <p:txBody>
          <a:bodyPr wrap="square" lIns="50800" tIns="38100" rIns="50800" bIns="38100">
            <a:noAutofit/>
          </a:bodyPr>
          <a:lstStyle/>
          <a:p>
            <a:pPr marL="203195" indent="0">
              <a:buNone/>
            </a:pPr>
            <a:endParaRPr/>
          </a:p>
          <a:p>
            <a:pPr marL="203195" indent="0">
              <a:spcBef>
                <a:spcPts val="200"/>
              </a:spcBef>
              <a:spcAft>
                <a:spcPts val="100"/>
              </a:spcAft>
              <a:buNone/>
            </a:pPr>
            <a:r>
              <a:rPr lang="en-IN" sz="1700" b="1"/>
              <a:t>Business Objective</a:t>
            </a:r>
            <a:endParaRPr sz="1700" b="1"/>
          </a:p>
          <a:p>
            <a:pPr>
              <a:spcAft>
                <a:spcPts val="100"/>
              </a:spcAft>
            </a:pPr>
            <a:r>
              <a:rPr sz="1500"/>
              <a:t>Reduce repetitive manual effort in contract review and compliance checks.</a:t>
            </a:r>
          </a:p>
          <a:p>
            <a:pPr>
              <a:spcAft>
                <a:spcPts val="100"/>
              </a:spcAft>
            </a:pPr>
            <a:r>
              <a:rPr sz="1500"/>
              <a:t>Bring contract clauses, policy requirements and supporting context together for reviewers.</a:t>
            </a:r>
          </a:p>
          <a:p>
            <a:pPr>
              <a:spcAft>
                <a:spcPts val="100"/>
              </a:spcAft>
            </a:pPr>
            <a:r>
              <a:rPr sz="1500"/>
              <a:t>Standardize contract summaries, risk findings, escalation and review documentation.</a:t>
            </a:r>
          </a:p>
          <a:p>
            <a:pPr>
              <a:spcAft>
                <a:spcPts val="100"/>
              </a:spcAft>
            </a:pPr>
            <a:r>
              <a:rPr sz="1500"/>
              <a:t>Improve review speed while retaining human control over legal and business decisions.</a:t>
            </a:r>
            <a:endParaRPr lang="en-IN" sz="1500"/>
          </a:p>
          <a:p>
            <a:pPr>
              <a:spcAft>
                <a:spcPts val="100"/>
              </a:spcAft>
            </a:pPr>
            <a:endParaRPr sz="1500"/>
          </a:p>
          <a:p>
            <a:pPr marL="203195" indent="0">
              <a:spcBef>
                <a:spcPts val="200"/>
              </a:spcBef>
              <a:spcAft>
                <a:spcPts val="100"/>
              </a:spcAft>
              <a:buNone/>
            </a:pPr>
            <a:r>
              <a:rPr lang="en-IN" sz="1700" b="1"/>
              <a:t>Proposed Solution</a:t>
            </a:r>
            <a:endParaRPr sz="1700" b="1"/>
          </a:p>
          <a:p>
            <a:pPr>
              <a:spcAft>
                <a:spcPts val="100"/>
              </a:spcAft>
            </a:pPr>
            <a:r>
              <a:rPr sz="1500"/>
              <a:t>Build an AI-powered contract review agent that receives a contract, extracts relevant clauses and obligations, retrieves approved policies and templates, checks terms against defined requirements, generates an evidence-grounded review summary and recommends the next step for authorized human review.</a:t>
            </a:r>
            <a:endParaRPr lang="en-IN" sz="1500"/>
          </a:p>
          <a:p>
            <a:pPr marL="203195" indent="0">
              <a:spcAft>
                <a:spcPts val="100"/>
              </a:spcAft>
              <a:buNone/>
            </a:pPr>
            <a:endParaRPr sz="1500"/>
          </a:p>
          <a:p>
            <a:pPr marL="203195" indent="0">
              <a:spcBef>
                <a:spcPts val="200"/>
              </a:spcBef>
              <a:spcAft>
                <a:spcPts val="100"/>
              </a:spcAft>
              <a:buNone/>
            </a:pPr>
            <a:r>
              <a:rPr lang="en-IN" sz="1700" b="1"/>
              <a:t>Core Capabilities</a:t>
            </a:r>
            <a:endParaRPr sz="1700" b="1"/>
          </a:p>
          <a:p>
            <a:pPr>
              <a:spcAft>
                <a:spcPts val="100"/>
              </a:spcAft>
            </a:pPr>
            <a:r>
              <a:rPr sz="1500"/>
              <a:t>Transaction, customer and merchant context retrieval.</a:t>
            </a:r>
          </a:p>
          <a:p>
            <a:pPr>
              <a:spcAft>
                <a:spcPts val="100"/>
              </a:spcAft>
            </a:pPr>
            <a:r>
              <a:rPr sz="1500"/>
              <a:t>Clause, policy and compliance requirement analysis.</a:t>
            </a:r>
          </a:p>
          <a:p>
            <a:pPr>
              <a:spcAft>
                <a:spcPts val="100"/>
              </a:spcAft>
            </a:pPr>
            <a:r>
              <a:rPr sz="1500"/>
              <a:t>Evidence-grounded contract review summary.</a:t>
            </a:r>
          </a:p>
          <a:p>
            <a:pPr>
              <a:spcAft>
                <a:spcPts val="100"/>
              </a:spcAft>
            </a:pPr>
            <a:r>
              <a:rPr sz="1500"/>
              <a:t>Risk/priority and next-review-step recommendation.</a:t>
            </a:r>
          </a:p>
          <a:p>
            <a:pPr>
              <a:spcAft>
                <a:spcPts val="100"/>
              </a:spcAft>
            </a:pPr>
            <a:r>
              <a:rPr sz="1500"/>
              <a:t> Human review, escalation and audit logging.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F26FE3-3C88-5C75-874B-CC22C576F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00" y="0"/>
            <a:ext cx="10675200" cy="1137600"/>
          </a:xfrm>
        </p:spPr>
        <p:txBody>
          <a:bodyPr wrap="square" lIns="50800" tIns="38100" rIns="50800" bIns="38100" anchor="ctr"/>
          <a:lstStyle/>
          <a:p>
            <a:pPr algn="ctr"/>
            <a:r>
              <a:rPr sz="2500" b="1"/>
              <a:t>PROJECT OVERVIEW &amp; BUSINESS 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5A7AD-1E6F-D9F3-9E5C-9488E3DA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01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DEA81-DC34-94F4-F12F-850640F67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357874"/>
            <a:ext cx="11155680" cy="461665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2500" b="1">
                <a:latin typeface="Raleway" pitchFamily="2" charset="0"/>
              </a:rPr>
              <a:t>STAKEHOLDERS &amp; STAKEHOLDER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5637" y="1097592"/>
            <a:ext cx="9051086" cy="4662815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endParaRPr sz="1500"/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IN"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egal</a:t>
            </a:r>
            <a:r>
              <a:rPr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C</a:t>
            </a:r>
            <a:r>
              <a:rPr lang="en-IN"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ontract</a:t>
            </a:r>
            <a:r>
              <a:rPr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IN"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eviewers</a:t>
            </a:r>
            <a:endParaRPr sz="1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sz="15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 consolidated clause findings, obligations and relevant policy context.</a:t>
            </a:r>
          </a:p>
          <a:p>
            <a:pPr marL="285750" indent="-285750"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sz="15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Spend less time manually searching contracts, policies and supporting documents.</a:t>
            </a:r>
          </a:p>
          <a:p>
            <a:pPr marL="285750" indent="-285750"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sz="15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attention on non-standard or high-risk terms and final review decisions.</a:t>
            </a:r>
            <a:endParaRPr lang="en-IN" sz="15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00"/>
              </a:spcAft>
            </a:pPr>
            <a:endParaRPr sz="1500"/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IN"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Legal </a:t>
            </a:r>
            <a:r>
              <a:rPr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 </a:t>
            </a:r>
            <a:r>
              <a:rPr lang="en-IN"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Compliance Managers</a:t>
            </a:r>
            <a:endParaRPr sz="1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sz="15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 review workflows, escalation criteria and approved contract terms.</a:t>
            </a:r>
          </a:p>
          <a:p>
            <a:pPr marL="285750" indent="-285750"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sz="15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visibility into review workload, recurring clause issues and contract risk patterns.</a:t>
            </a:r>
          </a:p>
          <a:p>
            <a:pPr marL="285750" indent="-285750"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sz="15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review documentation, governance and auditability.</a:t>
            </a:r>
            <a:endParaRPr lang="en-IN" sz="15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00"/>
              </a:spcAft>
            </a:pPr>
            <a:endParaRPr sz="1500"/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IN"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rocurement</a:t>
            </a:r>
            <a:r>
              <a:rPr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en-IN"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Teams</a:t>
            </a:r>
            <a:endParaRPr sz="1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00"/>
              </a:spcAft>
            </a:pPr>
            <a:r>
              <a:rPr sz="15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Improve contract handoffs, approval status and visibility into outstanding actions.</a:t>
            </a:r>
          </a:p>
          <a:p>
            <a:pPr>
              <a:spcAft>
                <a:spcPts val="100"/>
              </a:spcAft>
            </a:pPr>
            <a:r>
              <a:rPr sz="15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Reduce operational effort around repetitive contract checks and follow-ups.</a:t>
            </a:r>
            <a:endParaRPr lang="en-IN" sz="15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00"/>
              </a:spcAft>
            </a:pPr>
            <a:endParaRPr sz="1500"/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IN"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</a:t>
            </a:r>
            <a:r>
              <a:rPr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en-IN"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Contract Owners</a:t>
            </a:r>
            <a:endParaRPr sz="1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sz="15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timely investigation of suspicious activity.</a:t>
            </a:r>
          </a:p>
          <a:p>
            <a:pPr marL="285750" indent="-285750"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sz="15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 reduce operational exposure while keeping human control over important decisions.</a:t>
            </a:r>
          </a:p>
        </p:txBody>
      </p:sp>
    </p:spTree>
    <p:extLst>
      <p:ext uri="{BB962C8B-B14F-4D97-AF65-F5344CB8AC3E}">
        <p14:creationId xmlns:p14="http://schemas.microsoft.com/office/powerpoint/2010/main" val="358347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8DA81-C18C-13E6-5486-E33E2AF2C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2584" y="416867"/>
            <a:ext cx="11155680" cy="461665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2500" b="1">
                <a:latin typeface="Raleway" pitchFamily="2" charset="0"/>
              </a:rPr>
              <a:t>AGENTIC WORKFLOW &amp;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837" y="1234731"/>
            <a:ext cx="4389120" cy="492186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1"/>
              <a:t>END-TO-END PROCESS</a:t>
            </a:r>
          </a:p>
          <a:p>
            <a:r>
              <a:rPr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 — </a:t>
            </a:r>
            <a:r>
              <a:rPr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Intake</a:t>
            </a:r>
            <a:endParaRPr lang="en-US" sz="1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contract enters the review workflow.</a:t>
            </a:r>
          </a:p>
          <a:p>
            <a:endParaRPr lang="en-US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 — Understand</a:t>
            </a:r>
          </a:p>
          <a:p>
            <a:r>
              <a: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identifies contract type, parties, clauses and review requirements.</a:t>
            </a:r>
            <a:endParaRPr lang="en-IN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 — Retrieve</a:t>
            </a:r>
          </a:p>
          <a:p>
            <a:r>
              <a: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retrieves approved policies, templates, playbooks and supporting documents.</a:t>
            </a:r>
            <a:endParaRPr lang="en-IN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 — Analyze</a:t>
            </a:r>
          </a:p>
          <a:p>
            <a:r>
              <a: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compares clauses and obligations against approved requirements and compliance rules.</a:t>
            </a:r>
            <a:endParaRPr lang="en-IN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 — Summarize</a:t>
            </a:r>
          </a:p>
          <a:p>
            <a:r>
              <a: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generates an evidence-grounded contract review summary.</a:t>
            </a:r>
            <a:endParaRPr lang="en-IN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06 — Recommend</a:t>
            </a:r>
          </a:p>
          <a:p>
            <a:r>
              <a: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identifies review priority and recommends the next review or escalation step.</a:t>
            </a:r>
            <a:endParaRPr lang="en-IN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07 — Review &amp; Log</a:t>
            </a:r>
          </a:p>
          <a:p>
            <a:r>
              <a: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analyst reviews; approved action and case details are logged.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64277" y="1874520"/>
            <a:ext cx="1097280" cy="548640"/>
          </a:xfrm>
          <a:prstGeom prst="roundRect">
            <a:avLst/>
          </a:prstGeom>
          <a:solidFill>
            <a:srgbClr val="F5F8FA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chemeClr val="bg2"/>
                </a:solidFill>
              </a:rPr>
              <a:t>Contract Intake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98717" y="1874520"/>
            <a:ext cx="1097280" cy="548640"/>
          </a:xfrm>
          <a:prstGeom prst="roundRect">
            <a:avLst/>
          </a:prstGeom>
          <a:solidFill>
            <a:srgbClr val="F5F8FA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chemeClr val="bg2"/>
                </a:solidFill>
              </a:rPr>
              <a:t>LLM</a:t>
            </a:r>
            <a:br>
              <a:rPr>
                <a:solidFill>
                  <a:schemeClr val="bg2"/>
                </a:solidFill>
              </a:rPr>
            </a:br>
            <a:r>
              <a:rPr sz="900" b="1">
                <a:solidFill>
                  <a:schemeClr val="bg2"/>
                </a:solidFill>
              </a:rPr>
              <a:t>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33157" y="1874520"/>
            <a:ext cx="1097280" cy="548640"/>
          </a:xfrm>
          <a:prstGeom prst="roundRect">
            <a:avLst/>
          </a:prstGeom>
          <a:solidFill>
            <a:srgbClr val="F5F8FA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chemeClr val="bg2"/>
                </a:solidFill>
              </a:rPr>
              <a:t>Retrieve</a:t>
            </a:r>
            <a:br>
              <a:rPr>
                <a:solidFill>
                  <a:schemeClr val="bg2"/>
                </a:solidFill>
              </a:rPr>
            </a:br>
            <a:r>
              <a:rPr sz="900" b="1">
                <a:solidFill>
                  <a:schemeClr val="bg2"/>
                </a:solidFill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67597" y="1874520"/>
            <a:ext cx="1097280" cy="548640"/>
          </a:xfrm>
          <a:prstGeom prst="roundRect">
            <a:avLst/>
          </a:prstGeom>
          <a:solidFill>
            <a:srgbClr val="F5F8FA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chemeClr val="bg2"/>
                </a:solidFill>
              </a:rPr>
              <a:t>Analyze</a:t>
            </a:r>
            <a:br>
              <a:rPr>
                <a:solidFill>
                  <a:schemeClr val="bg2"/>
                </a:solidFill>
              </a:rPr>
            </a:br>
            <a:r>
              <a:rPr sz="900" b="1">
                <a:solidFill>
                  <a:schemeClr val="bg2"/>
                </a:solidFill>
              </a:rPr>
              <a:t>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02037" y="1874520"/>
            <a:ext cx="1097280" cy="548640"/>
          </a:xfrm>
          <a:prstGeom prst="roundRect">
            <a:avLst/>
          </a:prstGeom>
          <a:solidFill>
            <a:srgbClr val="F5F8FA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chemeClr val="bg2"/>
                </a:solidFill>
              </a:rPr>
              <a:t>Investigation</a:t>
            </a:r>
            <a:br>
              <a:rPr>
                <a:solidFill>
                  <a:schemeClr val="bg2"/>
                </a:solidFill>
              </a:rPr>
            </a:br>
            <a:r>
              <a:rPr sz="900" b="1">
                <a:solidFill>
                  <a:schemeClr val="bg2"/>
                </a:solidFill>
              </a:rPr>
              <a:t>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67597" y="2880360"/>
            <a:ext cx="1097280" cy="548640"/>
          </a:xfrm>
          <a:prstGeom prst="roundRect">
            <a:avLst/>
          </a:prstGeom>
          <a:solidFill>
            <a:srgbClr val="F5F8FA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chemeClr val="bg2"/>
                </a:solidFill>
              </a:rPr>
              <a:t>Human</a:t>
            </a:r>
            <a:br>
              <a:rPr>
                <a:solidFill>
                  <a:schemeClr val="bg2"/>
                </a:solidFill>
              </a:rPr>
            </a:br>
            <a:r>
              <a:rPr sz="900" b="1">
                <a:solidFill>
                  <a:schemeClr val="bg2"/>
                </a:solidFill>
              </a:rPr>
              <a:t>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02037" y="2880360"/>
            <a:ext cx="1097280" cy="548640"/>
          </a:xfrm>
          <a:prstGeom prst="roundRect">
            <a:avLst/>
          </a:prstGeom>
          <a:solidFill>
            <a:srgbClr val="F5F8FA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chemeClr val="bg2"/>
                </a:solidFill>
              </a:rPr>
              <a:t>Case Update</a:t>
            </a:r>
            <a:br>
              <a:rPr>
                <a:solidFill>
                  <a:schemeClr val="bg2"/>
                </a:solidFill>
              </a:rPr>
            </a:br>
            <a:r>
              <a:rPr sz="900" b="1">
                <a:solidFill>
                  <a:schemeClr val="bg2"/>
                </a:solidFill>
              </a:rPr>
              <a:t>&amp; Audit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61557" y="2148840"/>
            <a:ext cx="137160" cy="0"/>
          </a:xfrm>
          <a:prstGeom prst="line">
            <a:avLst/>
          </a:prstGeom>
          <a:ln w="1397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95997" y="2148840"/>
            <a:ext cx="137160" cy="0"/>
          </a:xfrm>
          <a:prstGeom prst="line">
            <a:avLst/>
          </a:prstGeom>
          <a:ln w="1397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30437" y="2148840"/>
            <a:ext cx="137160" cy="0"/>
          </a:xfrm>
          <a:prstGeom prst="line">
            <a:avLst/>
          </a:prstGeom>
          <a:ln w="1397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64877" y="2148840"/>
            <a:ext cx="137160" cy="0"/>
          </a:xfrm>
          <a:prstGeom prst="line">
            <a:avLst/>
          </a:prstGeom>
          <a:ln w="1397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716237" y="2423160"/>
            <a:ext cx="1234440" cy="457200"/>
          </a:xfrm>
          <a:prstGeom prst="line">
            <a:avLst/>
          </a:prstGeom>
          <a:ln w="1397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64877" y="3154680"/>
            <a:ext cx="137160" cy="0"/>
          </a:xfrm>
          <a:prstGeom prst="line">
            <a:avLst/>
          </a:prstGeom>
          <a:ln w="1397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55717" y="4614771"/>
            <a:ext cx="5669280" cy="73152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pPr algn="ctr"/>
            <a:r>
              <a:rPr sz="1000" i="1"/>
              <a:t>LLM + approved documents/tools + policies → evidence-grounded contract review → human-controlled decision</a:t>
            </a:r>
          </a:p>
        </p:txBody>
      </p:sp>
    </p:spTree>
    <p:extLst>
      <p:ext uri="{BB962C8B-B14F-4D97-AF65-F5344CB8AC3E}">
        <p14:creationId xmlns:p14="http://schemas.microsoft.com/office/powerpoint/2010/main" val="95672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D98A8-156B-3048-5464-9F1FCF3DA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664" y="1558536"/>
            <a:ext cx="8655664" cy="4239200"/>
          </a:xfrm>
        </p:spPr>
        <p:txBody>
          <a:bodyPr>
            <a:normAutofit/>
          </a:bodyPr>
          <a:lstStyle/>
          <a:p>
            <a:pPr lvl="0"/>
            <a:r>
              <a:rPr lang="en-IN" sz="1500" b="1"/>
              <a:t>LLM:</a:t>
            </a:r>
            <a:r>
              <a:rPr lang="en-IN" sz="1500"/>
              <a:t> OpenAI GPT / Google Gemini </a:t>
            </a:r>
            <a:r>
              <a:rPr lang="en-IN" sz="1500" i="1"/>
              <a:t>(final model selected during build)</a:t>
            </a:r>
            <a:r>
              <a:rPr lang="en-IN" sz="1500"/>
              <a:t> </a:t>
            </a:r>
          </a:p>
          <a:p>
            <a:pPr lvl="0"/>
            <a:r>
              <a:rPr lang="en-IN" sz="1500" b="1"/>
              <a:t>Workflow Orchestration:</a:t>
            </a:r>
            <a:r>
              <a:rPr lang="en-IN" sz="1500"/>
              <a:t> n8n </a:t>
            </a:r>
          </a:p>
          <a:p>
            <a:pPr lvl="0"/>
            <a:r>
              <a:rPr lang="en-IN" sz="1500" b="1"/>
              <a:t>Programming &amp; Document Processing:</a:t>
            </a:r>
            <a:r>
              <a:rPr lang="en-IN" sz="1500"/>
              <a:t> Python </a:t>
            </a:r>
          </a:p>
          <a:p>
            <a:pPr lvl="0"/>
            <a:r>
              <a:rPr lang="en-IN" sz="1500" b="1"/>
              <a:t>RAG / Knowledge Retrieval:</a:t>
            </a:r>
            <a:r>
              <a:rPr lang="en-IN" sz="1500"/>
              <a:t> Embeddings + Vector Database </a:t>
            </a:r>
          </a:p>
          <a:p>
            <a:pPr lvl="0"/>
            <a:r>
              <a:rPr lang="en-IN" sz="1500" b="1"/>
              <a:t>Frontend / User Interface:</a:t>
            </a:r>
            <a:r>
              <a:rPr lang="en-IN" sz="1500"/>
              <a:t> Streamlit </a:t>
            </a:r>
          </a:p>
          <a:p>
            <a:pPr lvl="0"/>
            <a:r>
              <a:rPr lang="en-IN" sz="1500" b="1"/>
              <a:t>Data Storage:</a:t>
            </a:r>
            <a:r>
              <a:rPr lang="en-IN" sz="1500"/>
              <a:t> SQL Server / SSMS / suitable database </a:t>
            </a:r>
          </a:p>
          <a:p>
            <a:pPr lvl="0"/>
            <a:r>
              <a:rPr lang="en-IN" sz="1500" b="1"/>
              <a:t>Version Control:</a:t>
            </a:r>
            <a:r>
              <a:rPr lang="en-IN" sz="1500"/>
              <a:t> GitHub </a:t>
            </a:r>
          </a:p>
          <a:p>
            <a:pPr lvl="0"/>
            <a:r>
              <a:rPr lang="en-IN" sz="1500" b="1"/>
              <a:t>APIs &amp; Integration:</a:t>
            </a:r>
            <a:r>
              <a:rPr lang="en-IN" sz="1500"/>
              <a:t> REST APIs </a:t>
            </a:r>
          </a:p>
          <a:p>
            <a:pPr lvl="0"/>
            <a:r>
              <a:rPr lang="en-IN" sz="1500" b="1"/>
              <a:t>Documents:</a:t>
            </a:r>
            <a:r>
              <a:rPr lang="en-IN" sz="1500"/>
              <a:t> PDF / DOCX contracts and policy documents</a:t>
            </a:r>
          </a:p>
          <a:p>
            <a:endParaRPr lang="en-IN" sz="15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FF655D-7EAC-EA1D-B1EB-7673B0192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782"/>
            <a:ext cx="12192000" cy="1137600"/>
          </a:xfrm>
        </p:spPr>
        <p:txBody>
          <a:bodyPr/>
          <a:lstStyle/>
          <a:p>
            <a:pPr algn="ctr"/>
            <a:r>
              <a:rPr lang="en-IN" sz="2500"/>
              <a:t>TECHNOLOGY 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0C378-8730-289A-024C-666F4F089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276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92F44-18E3-0A24-1D61-E29058C3A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337247"/>
            <a:ext cx="11155680" cy="5029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2300" b="1"/>
              <a:t>EXPECTED BUSINESS IMPACT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4129" y="1458393"/>
            <a:ext cx="4901871" cy="3744551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100"/>
              </a:spcAft>
            </a:pPr>
            <a:r>
              <a:rPr lang="en-IN"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Business Impact</a:t>
            </a:r>
            <a:endParaRPr sz="1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Faster contract review and clause summarization.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Reduced repetitive workload for legal, procurement and business teams.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More consistent contract review notes, escalation and approvals.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Improved visibility into contract status, recurring clause issues and obligations.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Greater review capacity during high contract volumes.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Stronger audit trail through structured review and approval logging.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610" y="1442805"/>
            <a:ext cx="4615261" cy="3744551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100"/>
              </a:spcAft>
            </a:pPr>
            <a:r>
              <a:rPr lang="en-IN" sz="17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  <a:endParaRPr sz="17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Contract repository, CLM and procurement-system integrations.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RAG-based access to company policies, contract templates and compliance playbooks.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Specialized agents for clause review, compliance checks and obligation tracking.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Case-management and enterprise-system integration.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Investigation analytics and trend dashboards.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Cloud deployment with security, monitoring and governance.</a:t>
            </a:r>
          </a:p>
        </p:txBody>
      </p:sp>
    </p:spTree>
    <p:extLst>
      <p:ext uri="{BB962C8B-B14F-4D97-AF65-F5344CB8AC3E}">
        <p14:creationId xmlns:p14="http://schemas.microsoft.com/office/powerpoint/2010/main" val="403797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0"/>
            <a:ext cx="12192000" cy="91440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2800" b="1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5677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17154</TotalTime>
  <Words>820</Words>
  <Application>Microsoft Office PowerPoint</Application>
  <PresentationFormat>Widescreen</PresentationFormat>
  <Paragraphs>123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Open Sans</vt:lpstr>
      <vt:lpstr>PT Sans Narrow</vt:lpstr>
      <vt:lpstr>Raleway</vt:lpstr>
      <vt:lpstr>Wingdings</vt:lpstr>
      <vt:lpstr>Tropic</vt:lpstr>
      <vt:lpstr>PowerPoint Presentation</vt:lpstr>
      <vt:lpstr>PROBLEM STATEMENT</vt:lpstr>
      <vt:lpstr>PROJECT OVERVIEW &amp; BUSINESS OBJECTIVE</vt:lpstr>
      <vt:lpstr>PowerPoint Presentation</vt:lpstr>
      <vt:lpstr>PowerPoint Presentation</vt:lpstr>
      <vt:lpstr>TECHNOLOGY STACK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Pratima Sharma</cp:lastModifiedBy>
  <cp:revision>134</cp:revision>
  <dcterms:created xsi:type="dcterms:W3CDTF">2025-04-04T02:52:34Z</dcterms:created>
  <dcterms:modified xsi:type="dcterms:W3CDTF">2026-09-25T14:16:36Z</dcterms:modified>
</cp:coreProperties>
</file>